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BOARD OF DIRECTORS • STRATEGIC REVIEW &amp; CAPITAL ALLOCATION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Offensive Posture Validated: Operating Margin (+18%) and NRR (118%) Secure Capital to Scale Industrial AI Expansion by Q3.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Quantitative SWOT assessment baseline. Clear defensible moats identified alongside urgent single-client concentration risks.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Strictly Confidential for Board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1 of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42032" cy="3931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54203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Segoe UI"/>
              </a:defRPr>
            </a:pPr>
            <a:r>
              <a:t>QUANTITATIVE BASELINE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Vector (+2.10, +1.85)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Dominant OFFENSIVE posture (Maxi-Maxi). Momentum vector magnitude at 2.80 pts. Internal strengths comfortably exceed operational weaknesses.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91640"/>
            <a:ext cx="2542032" cy="3931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691640"/>
            <a:ext cx="254203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9202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Segoe UI"/>
              </a:defRPr>
            </a:pPr>
            <a:r>
              <a:t>DEFENSIBLE MOAT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Proprietary IP + Cash Margin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3 registered patents and 24.2% EBITDA margin finance growth initiatives organically without debt dilution.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91640"/>
            <a:ext cx="2542032" cy="3931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691640"/>
            <a:ext cx="254203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9202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CRITICAL VULNERABILITY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Top-2 Concentration (42%)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High revenue concentration in 2 key accounts combined with long enterprise sales cycles (8.5 months) demands immediate diversification.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91640"/>
            <a:ext cx="2542032" cy="3931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91640"/>
            <a:ext cx="2542032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19202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CAPITAL &amp; ROI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€245k Budget → +€1.2M ARR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Structured 4-pillar TOWS action plan. Expected incremental ARR of €1.2M within 12 months of operational rollout.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72865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Board Gateway: Formal decision meeting for capital allocation authorization and initiative sponsor ratification for FY2026-2027.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BOARD OF DIRECTORS • STRATEGIC REVIEW &amp; CAPITAL ALLOCATION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Factor Cross-Impact Concentrates 68% of Synergies in Offensive Space (S-O), Mandating Strategic Moat Against Customer Concentration (W-T).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TOWS Cross-Impact Matrix and Cartesian quadrant positioning. Translating analytical interdependencies into board execution priorities.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Strictly Confidential for Board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2 of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Cartesian Strategic Matrix (Vector Positioning)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286000"/>
            <a:ext cx="2194560" cy="155448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92400E"/>
                </a:solidFill>
              </a:defRPr>
            </a:pPr>
            <a:r>
              <a:t>REORIENTATION</a:t>
            </a:r>
            <a:br/>
            <a:r>
              <a:t>(Mini-Maxi • WO)</a:t>
            </a:r>
            <a:br/>
            <a:br/>
            <a:r>
              <a:t>X &lt; 0 (Weaknesses)</a:t>
            </a:r>
            <a:br/>
            <a:r>
              <a:t>Y ≥ 0 (Opportunities)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286000"/>
            <a:ext cx="2194560" cy="1554480"/>
          </a:xfrm>
          <a:prstGeom prst="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65F46"/>
                </a:solidFill>
              </a:defRPr>
            </a:pPr>
            <a:r>
              <a:t>★ OFFENSIVE (ACTIVE)</a:t>
            </a:r>
            <a:br/>
            <a:r>
              <a:t>(Maxi-Maxi • SO)</a:t>
            </a:r>
            <a:br/>
            <a:br/>
            <a:r>
              <a:t>X ≥ 0 (Strengths: +2.10)</a:t>
            </a:r>
            <a:br/>
            <a:r>
              <a:t>Y ≥ 0 (Opportunities: +1.85)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023360"/>
            <a:ext cx="2194560" cy="155448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991B1B"/>
                </a:solidFill>
              </a:defRPr>
            </a:pPr>
            <a:r>
              <a:t>SURVIVAL</a:t>
            </a:r>
            <a:br/>
            <a:r>
              <a:t>(Mini-Mini • WT)</a:t>
            </a:r>
            <a:br/>
            <a:br/>
            <a:r>
              <a:t>X &lt; 0 (Weaknesses)</a:t>
            </a:r>
            <a:br/>
            <a:r>
              <a:t>Y &lt; 0 (Threats)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023360"/>
            <a:ext cx="2194560" cy="1554480"/>
          </a:xfrm>
          <a:prstGeom prst="rect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11480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40AF"/>
                </a:solidFill>
              </a:defRPr>
            </a:pPr>
            <a:r>
              <a:t>DEFENSIVE</a:t>
            </a:r>
            <a:br/>
            <a:r>
              <a:t>(Maxi-Mini • ST)</a:t>
            </a:r>
            <a:br/>
            <a:br/>
            <a:r>
              <a:t>X ≥ 0 (Strengths)</a:t>
            </a:r>
            <a:br/>
            <a:r>
              <a:t>Y &lt; 0 (Threats)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669279"/>
            <a:ext cx="45720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79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Strategic Vector: (+2.10, +1.85) | Magnitude ||V|| = 2.80 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691640"/>
            <a:ext cx="5425135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83080"/>
            <a:ext cx="5059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5F46"/>
                </a:solidFill>
                <a:latin typeface="Segoe UI"/>
              </a:defRPr>
            </a:pPr>
            <a:r>
              <a:t>Offensive Synergies S-O (38 pts)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Accelerate rollout across smart factory subsidies using proprietary IP and joint go-to-market with Tier-1 system integrators.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834640"/>
            <a:ext cx="5425135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5059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Defensive Strategies S-T (26 pts)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Secure multi-year enterprise lock-ins to defeat low-cost Asian market entrants and pre-empt NIS2/DORA compliance mandates.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977640"/>
            <a:ext cx="5425135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069080"/>
            <a:ext cx="5059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2400E"/>
                </a:solidFill>
                <a:latin typeface="Segoe UI"/>
              </a:defRPr>
            </a:pPr>
            <a:r>
              <a:t>Turnaround Initiatives W-O (18 pts)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Build LatAm distribution network and refactor multi-currency billing engine to compress sales cycle down to 5 months.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5120640"/>
            <a:ext cx="5425135" cy="10058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212080"/>
            <a:ext cx="5059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91B1B"/>
                </a:solidFill>
                <a:latin typeface="Segoe UI"/>
              </a:defRPr>
            </a:pPr>
            <a:r>
              <a:t>Survival Vulnerabilities W-T (29 pts)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Critical stress point: top client concentration exposed to price erosion requires rapid account diversification.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BOARD OF DIRECTORS • STRATEGIC REVIEW &amp; CAPITAL ALLOCATION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2026 TOWS Deployment: 4 Prioritized Initiatives with €245k Capital Allocation to Capture €1.2M Incremental ARR.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Quarterly operational roadmap with assigned C-Level executive ownership, financial budget, and Board Decision Gateway.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Strictly Confidential for Board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3 of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42032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54203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267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Q1: Cyber Moat &amp; Account Lock-in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TOWS-T01: Multi-year key account lock-in (CEO)</a:t>
            </a:r>
            <a:br/>
            <a:r>
              <a:t>• TOWS-T02: NIS2 / DORA compliance readiness (CISO)</a:t>
            </a:r>
            <a:br/>
            <a:r>
              <a:t>Allocated: €45,000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91640"/>
            <a:ext cx="2542032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691640"/>
            <a:ext cx="254203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828800"/>
            <a:ext cx="2267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9488"/>
                </a:solidFill>
                <a:latin typeface="Segoe UI"/>
              </a:defRPr>
            </a:pPr>
            <a:r>
              <a:t>Q2: Channel &amp; Geo Expansion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TOWS-W01: LatAm distribution channel (CCO)</a:t>
            </a:r>
            <a:br/>
            <a:r>
              <a:t>• TOWS-W02: SI co-selling framework (VP Sales)</a:t>
            </a:r>
            <a:br/>
            <a:r>
              <a:t>Allocated: €80,000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91640"/>
            <a:ext cx="2542032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691640"/>
            <a:ext cx="254203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828800"/>
            <a:ext cx="2267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Segoe UI"/>
              </a:defRPr>
            </a:pPr>
            <a:r>
              <a:t>Q3: Industrial SaaS Scaling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TOWS-O01: 40 manufacturing sites rollout (COO)</a:t>
            </a:r>
            <a:br/>
            <a:r>
              <a:t>• TOWS-W03: Billing microservice refactor (CTO)</a:t>
            </a:r>
            <a:br/>
            <a:r>
              <a:t>Allocated: €90,000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91640"/>
            <a:ext cx="2542032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91640"/>
            <a:ext cx="2542032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828800"/>
            <a:ext cx="2267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Q4: Talent Moat &amp; Patent Defense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TOWS-S01: Supplemental patent filing (Legal)</a:t>
            </a:r>
            <a:br/>
            <a:r>
              <a:t>• TOWS-S02: Senior R&amp;D retention LTIP (CPO)</a:t>
            </a:r>
            <a:br/>
            <a:r>
              <a:t>Allocated: €30,000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10728655" cy="22402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799"/>
            <a:ext cx="1036289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F08A"/>
                </a:solidFill>
                <a:latin typeface="Segoe UI"/>
              </a:defRPr>
            </a:pPr>
            <a:r>
              <a:t>BOARD DECISION GATEWAY (REQUIRED ACTION)</a:t>
            </a:r>
          </a:p>
          <a:p>
            <a:pPr>
              <a:spcBef>
                <a:spcPts val="7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1. CAPITAL ALLOCATION: Approve strategic appropriation of €245,000 (€140k CAPEX / €105k OPEX) from corporate reserves.</a:t>
            </a:r>
          </a:p>
          <a:p>
            <a:pPr>
              <a:spcBef>
                <a:spcPts val="7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2. EXECUTIVE SPONSORSHIP: Formally assign COO as Sponsor for TOWS-O01 and CCO for the Commercial Diversification Program.</a:t>
            </a:r>
          </a:p>
          <a:p>
            <a:pPr>
              <a:spcBef>
                <a:spcPts val="7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3. GOVERNANCE &amp; REPORTING: Establish monthly PMO steering committee and quarterly Board milestone verification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