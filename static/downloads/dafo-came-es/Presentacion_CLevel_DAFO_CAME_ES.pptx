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COMITÉ DE DIRECCIÓN • REVISIÓN ESTRATÉGICA &amp; DECISIÓN DE ASIGNACIÓN DE CAPITAL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Postura Ofensiva Validada: La robustez en margen (+18%) y retención NRR (118%) financia la captura del nuevo mercado digital en Q3.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Diagnóstico de situación según modelo DAFO Cuantitativo normalizado. Se identifican ventajas competitivas defendibles y focos prioritarios.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Datalaria.com | Executive Decision Pack • Uso Estrictamente Confidencial para Consejo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Página 1 de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542032" cy="3931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2542032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2176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563EB"/>
                </a:solidFill>
                <a:latin typeface="Segoe UI"/>
              </a:defRPr>
            </a:pPr>
            <a:r>
              <a:t>DIAGNÓSTICO CUANTITATIVO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Vector (+2.10, +1.85)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Postura dominante OFENSIVA (Maxi-Maxi). Magnitud de impulso de 2.80 pts. La solidez interna supera con holgura los cuellos de botella.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691640"/>
            <a:ext cx="2542032" cy="39319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691640"/>
            <a:ext cx="2542032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920240"/>
            <a:ext cx="2176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  <a:latin typeface="Segoe UI"/>
              </a:defRPr>
            </a:pPr>
            <a:r>
              <a:t>VENTAJA DEFENDIBLE (MOAT)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Propiedad Intelectual + Margen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3 patentes europeas registradas y margen EBITDA del 24.2% permiten absorber inversiones de crecimiento sin acudir a deuda bancaria.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691640"/>
            <a:ext cx="2542032" cy="39319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691640"/>
            <a:ext cx="254203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1920240"/>
            <a:ext cx="2176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97706"/>
                </a:solidFill>
                <a:latin typeface="Segoe UI"/>
              </a:defRPr>
            </a:pPr>
            <a:r>
              <a:t>VULNERABILIDAD CRÍTICA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Concentración Top-2 (42%)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Elevada dependencia de 2 clientes clave y ciclo comercial enterprise prolongado (8.5 meses) exigen diversificación comercial urgente.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91640"/>
            <a:ext cx="2542032" cy="3931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256" y="1691640"/>
            <a:ext cx="2542032" cy="91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1920240"/>
            <a:ext cx="217627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172A"/>
                </a:solidFill>
                <a:latin typeface="Segoe UI"/>
              </a:defRPr>
            </a:pPr>
            <a:r>
              <a:t>RETORNO DE INVERSIÓN (ROI)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245k € Presupuesto → +1.2M €</a:t>
            </a:r>
          </a:p>
          <a:p>
            <a:pPr>
              <a:defRPr sz="1000">
                <a:solidFill>
                  <a:srgbClr val="1E293B"/>
                </a:solidFill>
                <a:latin typeface="Segoe UI"/>
              </a:defRPr>
            </a:pPr>
            <a:r>
              <a:t>Plan CAME estructurado en 4 líneas. Retorno estimado de 1.2M € en nuevo ARR dentro de los primeros 12 meses de despliegue operativo.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760720"/>
            <a:ext cx="10728655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77900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Gobernanza de Comité: Sesión formal de decisión de asignación de capital y aprobación de partida presupuestaria para el ejercicio 2026-2027.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COMITÉ DE DIRECCIÓN • REVISIÓN ESTRATÉGICA &amp; DECISIÓN DE ASIGNACIÓN DE CAPITAL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El Cruce Cuantitativo Concentra el 68% del Potencial en Sinergias Ofensivas (F-O), Mandatando Blindaje Inmediato en Concentración (D-A).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Matriz de Cruce de Impacto y Cuadrante Cartesiano. Traducción de interdependencias estratégicas en prioridades de ejecución.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Datalaria.com | Executive Decision Pack • Uso Estrictamente Confidencial para Consejo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Página 2 de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Matriz de Cuadrantes Estratégicos (Posición Cartesiana)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286000"/>
            <a:ext cx="2194560" cy="1554480"/>
          </a:xfrm>
          <a:prstGeom prst="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92400E"/>
                </a:solidFill>
              </a:defRPr>
            </a:pPr>
            <a:r>
              <a:t>REORIENTACIÓN</a:t>
            </a:r>
            <a:br/>
            <a:r>
              <a:t>(Mini-Maxi • WO)</a:t>
            </a:r>
            <a:br/>
            <a:br/>
            <a:r>
              <a:t>X &lt; 0 (Debilidades)</a:t>
            </a:r>
            <a:br/>
            <a:r>
              <a:t>Y ≥ 0 (Oportunidades)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286000"/>
            <a:ext cx="2194560" cy="1554480"/>
          </a:xfrm>
          <a:prstGeom prst="rect">
            <a:avLst/>
          </a:prstGeom>
          <a:solidFill>
            <a:srgbClr val="D1FAE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37744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65F46"/>
                </a:solidFill>
              </a:defRPr>
            </a:pPr>
            <a:r>
              <a:t>★ OFENSIVO (ACTIVO)</a:t>
            </a:r>
            <a:br/>
            <a:r>
              <a:t>(Maxi-Maxi • SO)</a:t>
            </a:r>
            <a:br/>
            <a:br/>
            <a:r>
              <a:t>X ≥ 0 (Fortalezas: +2.10)</a:t>
            </a:r>
            <a:br/>
            <a:r>
              <a:t>Y ≥ 0 (Oportunidades: +1.85)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023360"/>
            <a:ext cx="2194560" cy="1554480"/>
          </a:xfrm>
          <a:prstGeom prst="rect">
            <a:avLst/>
          </a:prstGeom>
          <a:solidFill>
            <a:srgbClr val="FEE2E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1480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991B1B"/>
                </a:solidFill>
              </a:defRPr>
            </a:pPr>
            <a:r>
              <a:t>SUPERVIVENCIA</a:t>
            </a:r>
            <a:br/>
            <a:r>
              <a:t>(Mini-Mini • WT)</a:t>
            </a:r>
            <a:br/>
            <a:br/>
            <a:r>
              <a:t>X &lt; 0 (Debilidades)</a:t>
            </a:r>
            <a:br/>
            <a:r>
              <a:t>Y &lt; 0 (Amenazas)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023360"/>
            <a:ext cx="2194560" cy="1554480"/>
          </a:xfrm>
          <a:prstGeom prst="rect">
            <a:avLst/>
          </a:prstGeom>
          <a:solidFill>
            <a:srgbClr val="DBEAFE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4114800"/>
            <a:ext cx="2011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E40AF"/>
                </a:solidFill>
              </a:defRPr>
            </a:pPr>
            <a:r>
              <a:t>DEFENSIVO</a:t>
            </a:r>
            <a:br/>
            <a:r>
              <a:t>(Maxi-Mini • ST)</a:t>
            </a:r>
            <a:br/>
            <a:br/>
            <a:r>
              <a:t>X ≥ 0 (Fortalezas)</a:t>
            </a:r>
            <a:br/>
            <a:r>
              <a:t>Y &lt; 0 (Amenazas)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5669279"/>
            <a:ext cx="457200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69279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Coordenadas del Vector: (+2.10, +1.85) | Módulo ||V|| = 2.80 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691640"/>
            <a:ext cx="5425135" cy="10058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83080"/>
            <a:ext cx="5059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65F46"/>
                </a:solidFill>
                <a:latin typeface="Segoe UI"/>
              </a:defRPr>
            </a:pPr>
            <a:r>
              <a:t>Sinergias Ofensivas F-O (38 pts)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Aceleración en captura de fondos NextGen EU apoyados en patentes propias y alianzas con integradores globales (Accenture/Indra).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2834640"/>
            <a:ext cx="5425135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926080"/>
            <a:ext cx="5059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40AF"/>
                </a:solidFill>
                <a:latin typeface="Segoe UI"/>
              </a:defRPr>
            </a:pPr>
            <a:r>
              <a:t>Estrategias Defensivas F-A (26 pts)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Blindaje de contratos plurianuales de clientes enterprise para neutralizar la entrada de proveedores low-cost y anticipar NIS2.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3977640"/>
            <a:ext cx="5425135" cy="10058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069080"/>
            <a:ext cx="5059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92400E"/>
                </a:solidFill>
                <a:latin typeface="Segoe UI"/>
              </a:defRPr>
            </a:pPr>
            <a:r>
              <a:t>Iniciativas de Reorientación D-O (18 pts)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Despliegue de red de distribución en LatAm y refactorización del motor de facturación multi-divisa para reducir lead time a 5 meses.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5120640"/>
            <a:ext cx="5425135" cy="10058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5212080"/>
            <a:ext cx="50593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991B1B"/>
                </a:solidFill>
                <a:latin typeface="Segoe UI"/>
              </a:defRPr>
            </a:pPr>
            <a:r>
              <a:t>Vulnerabilidades de Supervivencia D-A (29 pts)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  <a:latin typeface="Segoe UI"/>
              </a:defRPr>
            </a:pPr>
            <a:r>
              <a:t>Punto crítico: la dependencia de 2 clientes frente a la presión de precios de competidores exige diversificación inmediata de cartera.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  <a:latin typeface="Segoe UI"/>
              </a:defRPr>
            </a:pPr>
            <a:r>
              <a:t>COMITÉ DE DIRECCIÓN • REVISIÓN ESTRATÉGICA &amp; DECISIÓN DE ASIGNACIÓN DE CAPITAL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Segoe UI"/>
              </a:defRPr>
            </a:pPr>
            <a:r>
              <a:t>Despliegue CAME 2026: 4 Iniciativas Priorizadas con 245.000 € de Presupuesto para Asegurar 1.2M € de Nuevo Margen.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Hoja de ruta operativa por trimestres con responsable C-Level asignado, presupuesto detallado y caja de decisión requerida.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Datalaria.com | Executive Decision Pack • Uso Estrictamente Confidencial para Consejo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Página 3 de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2542032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254203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22677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Q1: Ciberseguridad &amp; Blindaje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CAME-A01: Contratos plurianuales top accounts (CEO)</a:t>
            </a:r>
            <a:br/>
            <a:r>
              <a:t>• CAME-A02: Auditoría NIS2 / DORA (CISO)</a:t>
            </a:r>
            <a:br/>
            <a:r>
              <a:t>Presupuesto: 45.000 €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691640"/>
            <a:ext cx="2542032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6432" y="1691640"/>
            <a:ext cx="254203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828800"/>
            <a:ext cx="22677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9488"/>
                </a:solidFill>
                <a:latin typeface="Segoe UI"/>
              </a:defRPr>
            </a:pPr>
            <a:r>
              <a:t>Q2: Expansión &amp; Canal LatAm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CAME-C01: Red comercial LatAm (CCO)</a:t>
            </a:r>
            <a:br/>
            <a:r>
              <a:t>• CAME-C02: Acuerdo integradores (VP Sales)</a:t>
            </a:r>
            <a:br/>
            <a:r>
              <a:t>Presupuesto: 80.000 €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691640"/>
            <a:ext cx="2542032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691640"/>
            <a:ext cx="254203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828800"/>
            <a:ext cx="22677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  <a:latin typeface="Segoe UI"/>
              </a:defRPr>
            </a:pPr>
            <a:r>
              <a:t>Q3: Despliegue Industrial SaaS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CAME-E01: 40 factorías NextGen (COO)</a:t>
            </a:r>
            <a:br/>
            <a:r>
              <a:t>• CAME-C03: Refactorización billing (CTO)</a:t>
            </a:r>
            <a:br/>
            <a:r>
              <a:t>Presupuesto: 90.000 €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91640"/>
            <a:ext cx="2542032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06256" y="1691640"/>
            <a:ext cx="2542032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828800"/>
            <a:ext cx="226771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Q4: Consolidación &amp; IP Moat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  <a:latin typeface="Segoe UI"/>
              </a:defRPr>
            </a:pPr>
            <a:r>
              <a:t>• CAME-M01: Ampliación patentes Asia (Legal)</a:t>
            </a:r>
            <a:br/>
            <a:r>
              <a:t>• CAME-M02: LTIP retención I+D (CPO)</a:t>
            </a:r>
            <a:br/>
            <a:r>
              <a:t>Presupuesto: 30.000 €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77639"/>
            <a:ext cx="10728655" cy="22402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14799"/>
            <a:ext cx="10362895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EF08A"/>
                </a:solidFill>
                <a:latin typeface="Segoe UI"/>
              </a:defRPr>
            </a:pPr>
            <a:r>
              <a:t>DECISIÓN REQUERIDA DEL COMITÉ DE DIRECCIÓN (BOARD DECISION GATEWAY)</a:t>
            </a:r>
          </a:p>
          <a:p>
            <a:pPr>
              <a:spcBef>
                <a:spcPts val="70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1. APROBACIÓN PRESUPUESTARIA: Autorizar partida de 245.000 € (140k € CAPEX / 105k € OPEX) con cargo al fondo de inversión estratégica.</a:t>
            </a:r>
          </a:p>
          <a:p>
            <a:pPr>
              <a:spcBef>
                <a:spcPts val="70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2. PATROCINIO EJECUTIVO: Ratificar al COO como Sponsor de CAME-E01 y al CCO como Sponsor del Programa de Diversificación LatAm.</a:t>
            </a:r>
          </a:p>
          <a:p>
            <a:pPr>
              <a:spcBef>
                <a:spcPts val="700"/>
              </a:spcBef>
              <a:defRPr sz="950">
                <a:solidFill>
                  <a:srgbClr val="FFFFFF"/>
                </a:solidFill>
                <a:latin typeface="Segoe UI"/>
              </a:defRPr>
            </a:pPr>
            <a:r>
              <a:t>3. GOBERNANZA Y REPORTE: Establecer reuniones mensuales de seguimiento y presentación de KPIs de avance en cada Consejo trimestral.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