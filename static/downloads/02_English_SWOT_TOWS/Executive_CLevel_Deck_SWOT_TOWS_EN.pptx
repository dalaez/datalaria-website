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9144" bIns="9144"/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Strategic Diagnosis &amp;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10896"/>
            <a:ext cx="55165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DATALARIA STRATEGY PRACTICE • MCKINSEY/BCG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Segoe UI"/>
              </a:defRPr>
            </a:pPr>
            <a:r>
              <a:t>Offensive Posture Validated: Margin (+18%) and NRR (118%) Fund Market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Normalized SWOT diagnosis, key defensible moats, and critical mitigation priorities.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Strictly Confidential for Board of Directors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37376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 of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2563EB"/>
                </a:solidFill>
                <a:latin typeface="Segoe UI"/>
              </a:defRPr>
            </a:pPr>
            <a:r>
              <a:t>OFFENSIVE (DOMINANT)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+2.10, +1.85</a:t>
            </a:r>
          </a:p>
          <a:p>
            <a:pPr>
              <a:defRPr sz="850" b="1">
                <a:solidFill>
                  <a:srgbClr val="1D4ED8"/>
                </a:solidFill>
                <a:latin typeface="Segoe UI"/>
              </a:defRPr>
            </a:pPr>
            <a:r>
              <a:t>Momentum Vector ||V|| = 2.80 pts (High)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944368"/>
            <a:ext cx="2212848" cy="10972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Dominant Quadrant I (Maxi-Maxi)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Internal moat exceeds operational debt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Strong macroeconomic expansion tailwinds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ACTIVE POSTURE Q1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0D9488"/>
                </a:solidFill>
                <a:latin typeface="Segoe UI"/>
              </a:defRPr>
            </a:pPr>
            <a:r>
              <a:t>DEFENSIBLE MOAT (ST)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24.2% EBITDA</a:t>
            </a:r>
          </a:p>
          <a:p>
            <a:pPr>
              <a:defRPr sz="850" b="1">
                <a:solidFill>
                  <a:srgbClr val="0F766E"/>
                </a:solidFill>
                <a:latin typeface="Segoe UI"/>
              </a:defRPr>
            </a:pPr>
            <a:r>
              <a:t>Gross Margin +18.4% vs Peers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1024" y="2944368"/>
            <a:ext cx="2212848" cy="10972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3 granted European patents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Net Revenue Retention (NRR) at 118%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Self-funded R&amp;D scaling without debt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21024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1024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IP ASSET MOAT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D97706"/>
                </a:solidFill>
                <a:latin typeface="Segoe UI"/>
              </a:defRPr>
            </a:pPr>
            <a:r>
              <a:t>CRITICAL STRESS POINT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900" b="1">
                <a:solidFill>
                  <a:srgbClr val="0F172A"/>
                </a:solidFill>
                <a:latin typeface="Segoe UI"/>
              </a:defRPr>
            </a:pPr>
            <a:r>
              <a:t>42% TOP-2</a:t>
            </a:r>
          </a:p>
          <a:p>
            <a:pPr>
              <a:defRPr sz="850" b="1">
                <a:solidFill>
                  <a:srgbClr val="92400E"/>
                </a:solidFill>
                <a:latin typeface="Segoe UI"/>
              </a:defRPr>
            </a:pPr>
            <a:r>
              <a:t>Sales Deal Cycle: 8.5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944368"/>
            <a:ext cx="2212848" cy="10972"/>
          </a:xfrm>
          <a:prstGeom prst="rect">
            <a:avLst/>
          </a:prstGeom>
          <a:solidFill>
            <a:srgbClr val="FDE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Severe revenue concentration in 2 logos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Asian competitor price discounting (-35%)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Demands immediate LatAm channel hedge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URGENT MITIGATION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6" y="1645920"/>
            <a:ext cx="2542032" cy="38862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1773936"/>
            <a:ext cx="221284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Segoe UI"/>
              </a:defRPr>
            </a:pPr>
            <a:r>
              <a:t>CAPITAL &amp; ROI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650" b="1">
                <a:solidFill>
                  <a:srgbClr val="0F172A"/>
                </a:solidFill>
                <a:latin typeface="Segoe UI"/>
              </a:defRPr>
            </a:pPr>
            <a:r>
              <a:t>€245k → +€1.2M</a:t>
            </a:r>
          </a:p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Payback: 11 Months • Positive NPV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0848" y="2944368"/>
            <a:ext cx="2212848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8" y="3017520"/>
            <a:ext cx="2212848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 Allocation: €140k CAPEX / €105k OPEX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Capture of €1.2M NextGen ARR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Dilute Top-2 exposure down to &lt; 25% ARR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0848" y="5093208"/>
            <a:ext cx="2212848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0848" y="5093208"/>
            <a:ext cx="2212848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BOARD GATEWAY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10728655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8680" y="5769864"/>
            <a:ext cx="1645920" cy="3017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769864"/>
            <a:ext cx="1645920" cy="3017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BOARDROOM MANDATE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5760720"/>
            <a:ext cx="8686800" cy="3200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Authorize €245,000 to deploy the 4 TOWS initiatives, securing €1.2M ARR while neutralizing client concentration.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3163824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9144" bIns="9144"/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Strategic Positioning &amp; Cross-Forces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10896"/>
            <a:ext cx="55165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DATALARIA STRATEGY PRACTICE • MCKINSEY/BCG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Segoe UI"/>
              </a:defRPr>
            </a:pPr>
            <a:r>
              <a:t>68% of Synergies in Offensive Space with Urgent Customer Concentration Hedging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Cartesian quadrant matrix and TOWS cross-impact force intensity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Strictly Confidential for Board of Directors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37376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2 of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36576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755648"/>
            <a:ext cx="46817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CARTESIAN STRATEGIC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2084832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194560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92400E"/>
                </a:solidFill>
                <a:latin typeface="Segoe UI"/>
              </a:defRPr>
            </a:pPr>
            <a:r>
              <a:t>REORIENTATION (WO)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64748B"/>
                </a:solidFill>
                <a:latin typeface="Segoe UI"/>
              </a:defRPr>
            </a:pPr>
            <a:r>
              <a:t>X &lt; 0, Y ≥ 0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Turn around internal bottlenecks to capture market tailwinds.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084832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317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194560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1D4ED8"/>
                </a:solidFill>
                <a:latin typeface="Segoe UI"/>
              </a:defRPr>
            </a:pPr>
            <a:r>
              <a:t>★ OFFENSIVE (SO) • ACTIVE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2563EB"/>
                </a:solidFill>
                <a:latin typeface="Segoe UI"/>
              </a:defRPr>
            </a:pPr>
            <a:r>
              <a:t>X = +2.10, Y = +1.85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Direct aggressive capital to exploit proprietary moats.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" y="3657600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767328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9F1239"/>
                </a:solidFill>
                <a:latin typeface="Segoe UI"/>
              </a:defRPr>
            </a:pPr>
            <a:r>
              <a:t>SURVIVAL (WT)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64748B"/>
                </a:solidFill>
                <a:latin typeface="Segoe UI"/>
              </a:defRPr>
            </a:pPr>
            <a:r>
              <a:t>X &lt; 0, Y &lt; 0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Enforce strict cash preservation and defensive hedging.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657600"/>
            <a:ext cx="2249424" cy="1444752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3008" y="3767328"/>
            <a:ext cx="20299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0F766E"/>
                </a:solidFill>
                <a:latin typeface="Segoe UI"/>
              </a:defRPr>
            </a:pPr>
            <a:r>
              <a:t>DEFENSIVE (ST)</a:t>
            </a:r>
          </a:p>
          <a:p>
            <a:pPr algn="ctr">
              <a:spcBef>
                <a:spcPts val="300"/>
              </a:spcBef>
              <a:defRPr sz="850" b="1">
                <a:solidFill>
                  <a:srgbClr val="64748B"/>
                </a:solidFill>
                <a:latin typeface="Segoe UI"/>
              </a:defRPr>
            </a:pPr>
            <a:r>
              <a:t>X ≥ 0, Y &lt; 0</a:t>
            </a:r>
          </a:p>
          <a:p>
            <a:pPr algn="ctr">
              <a:spcBef>
                <a:spcPts val="5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Hedge external risks leveraging margins and 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31535"/>
            <a:ext cx="5120640" cy="512064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31535"/>
            <a:ext cx="5120640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STRATEGIC VECTOR: (+2.10, +1.85) | MOMENTUM ||V|| = 2.80 PTS | ANGLE θ = 41.3º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2472" y="164592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71907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1D4ED8"/>
                </a:solidFill>
                <a:latin typeface="Segoe UI"/>
              </a:defRPr>
            </a:pPr>
            <a:r>
              <a:t>Offensive Synergies (S-O) • 38 pts   [68% POTENTIAL • PRIORITY 1]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Accelerated smart factory SaaS rollout across 40 plants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Tier-1 system integrator co-selling agreements (Accenture/Indra)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62472" y="274320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81635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F766E"/>
                </a:solidFill>
                <a:latin typeface="Segoe UI"/>
              </a:defRPr>
            </a:pPr>
            <a:r>
              <a:t>Defensive Moats (S-T) • 26 pts   [MOAT PRESERVATION]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3-year multi-year master service agreement lock-ins with enterprise logos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Proactive regulatory compliance certification for NIS2 and DORA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62472" y="384048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91363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2400E"/>
                </a:solidFill>
                <a:latin typeface="Segoe UI"/>
              </a:defRPr>
            </a:pPr>
            <a:r>
              <a:t>Turnaround Initiatives (W-O) • 18 pts   [OPERATIONAL TURNAROUND]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Establish LatAm master distributor partnerships in Mexico and Colombia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Refactor multi-currency billing engine to compress deal cycle to 5 months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62472" y="4937760"/>
            <a:ext cx="5394960" cy="10058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5010912"/>
            <a:ext cx="50292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9F1239"/>
                </a:solidFill>
                <a:latin typeface="Segoe UI"/>
              </a:defRPr>
            </a:pPr>
            <a:r>
              <a:t>Survival Vulnerabilities (W-T) • 29 pts   [CRITICAL RISK]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Top-2 logo concentration risk (42%) exposed to Asian discount pricing</a:t>
            </a:r>
          </a:p>
          <a:p>
            <a:pPr>
              <a:spcBef>
                <a:spcPts val="25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 Mandatory account diversification milestone enforced before end of Q3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30652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9144" bIns="9144"/>
          <a:lstStyle/>
          <a:p>
            <a:pPr algn="ctr">
              <a:defRPr sz="850" b="1">
                <a:solidFill>
                  <a:srgbClr val="FEF08A"/>
                </a:solidFill>
                <a:latin typeface="Segoe UI"/>
              </a:defRPr>
            </a:pPr>
            <a:r>
              <a:t>TOWS Action Plan &amp; Board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10896"/>
            <a:ext cx="55165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DATALARIA STRATEGY PRACTICE • MCKINSEY/BCG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0F172A"/>
                </a:solidFill>
                <a:latin typeface="Segoe UI"/>
              </a:defRPr>
            </a:pPr>
            <a:r>
              <a:t>2026 TOWS Deployment: €245k Capital Allocation to Capture €1.2M New 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Quarterly execution roadmap, C-Level owners, and binding Boardroom resolutions.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3737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Strictly Confidential for Board of Directors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37376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3 of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D9488"/>
                </a:solidFill>
                <a:latin typeface="Segoe UI"/>
              </a:defRPr>
            </a:pPr>
            <a:r>
              <a:t>Q1 • CYBER MOAT &amp; LOCK-IN</a:t>
            </a:r>
          </a:p>
          <a:p>
            <a:pPr>
              <a:spcBef>
                <a:spcPts val="200"/>
              </a:spcBef>
              <a:defRPr sz="800" b="1">
                <a:solidFill>
                  <a:srgbClr val="0F766E"/>
                </a:solidFill>
                <a:latin typeface="Segoe UI"/>
              </a:defRPr>
            </a:pPr>
            <a:r>
              <a:t>Pillar: DEFENSIVE (ST)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TOWS-T01: Enterprise logo lock-in [CEO]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TOWS-T02: NIS2 / DORA compliance [CISO]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Budget: €45,000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D97706"/>
                </a:solidFill>
                <a:latin typeface="Segoe UI"/>
              </a:defRPr>
            </a:pPr>
            <a:r>
              <a:t>Q2 • LATAM CHANNEL &amp; PARTNERS</a:t>
            </a:r>
          </a:p>
          <a:p>
            <a:pPr>
              <a:spcBef>
                <a:spcPts val="200"/>
              </a:spcBef>
              <a:defRPr sz="800" b="1">
                <a:solidFill>
                  <a:srgbClr val="92400E"/>
                </a:solidFill>
                <a:latin typeface="Segoe UI"/>
              </a:defRPr>
            </a:pPr>
            <a:r>
              <a:t>Pillar: REORIENTATION (WO)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TOWS-W01: LatAm master distributor [CCO]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TOWS-W02: SI co-selling framework [VP Sales]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3592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Budget: €80,000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Q3 • INDUSTRIAL SAAS SCALING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Segoe UI"/>
              </a:defRPr>
            </a:pPr>
            <a:r>
              <a:t>Pillar: OFFENSIVE (SO)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TOWS-O01: 40 smart factories rollout [COO]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TOWS-C03: Billing microservice refactor [CTO]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Budget: €90,000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06256" y="1645920"/>
            <a:ext cx="2542032" cy="2057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3416" y="1773936"/>
            <a:ext cx="226771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F172A"/>
                </a:solidFill>
                <a:latin typeface="Segoe UI"/>
              </a:defRPr>
            </a:pPr>
            <a:r>
              <a:t>Q4 • R&amp;D TALENT &amp; PATENTS</a:t>
            </a:r>
          </a:p>
          <a:p>
            <a:pPr>
              <a:spcBef>
                <a:spcPts val="200"/>
              </a:spcBef>
              <a:defRPr sz="800" b="1">
                <a:solidFill>
                  <a:srgbClr val="1E293B"/>
                </a:solidFill>
                <a:latin typeface="Segoe UI"/>
              </a:defRPr>
            </a:pPr>
            <a:r>
              <a:t>Pillar: MOAT PRESERVATION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6" y="2267712"/>
            <a:ext cx="22677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TOWS-M01: Supplemental patent filing [Legal]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Segoe UI"/>
              </a:defRPr>
            </a:pPr>
            <a:r>
              <a:t>• TOWS-M02: Senior AI engineer LTIP [CPO]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3355848"/>
            <a:ext cx="2267712" cy="256032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3355848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Budget: €30,000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86200"/>
            <a:ext cx="10728655" cy="2331720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014216"/>
            <a:ext cx="10088575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Segoe UI"/>
              </a:defRPr>
            </a:pPr>
            <a:r>
              <a:t>BOARD DECISION GATEWAY (REQUIRED RESOLUTIONS)</a:t>
            </a:r>
          </a:p>
          <a:p>
            <a:pPr>
              <a:spcBef>
                <a:spcPts val="200"/>
              </a:spcBef>
              <a:defRPr sz="850">
                <a:solidFill>
                  <a:srgbClr val="E2E8F0"/>
                </a:solidFill>
                <a:latin typeface="Segoe UI"/>
              </a:defRPr>
            </a:pPr>
            <a:r>
              <a:t>Three binding resolutions submitted for formal Board adoption: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507992"/>
            <a:ext cx="3209544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2" y="4636008"/>
            <a:ext cx="2880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1. CAPITAL APPROPRIATION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€245,000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Authorize €140k CAPEX / €105k OPEX allocation from strategic corporate investment reserve.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9704" y="4507992"/>
            <a:ext cx="3209544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4636008"/>
            <a:ext cx="2880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2. C-LEVEL SPONSORSHIP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COO &amp; CCO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Ratify COO as Executive Sponsor for TOWS-O01 and CCO for Commercial LatAm Expansion.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7848" y="4507992"/>
            <a:ext cx="3209544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636008"/>
            <a:ext cx="2880360" cy="1335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Segoe UI"/>
              </a:defRPr>
            </a:pPr>
            <a:r>
              <a:t>3. GOVERNANCE &amp; AUDIT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Quarterly Review</a:t>
            </a:r>
          </a:p>
          <a:p>
            <a:pPr>
              <a:defRPr sz="850">
                <a:solidFill>
                  <a:srgbClr val="CBD5E1"/>
                </a:solidFill>
                <a:latin typeface="Segoe UI"/>
              </a:defRPr>
            </a:pPr>
            <a:r>
              <a:t>Enforce monthly steering reviews and quarterly Board milestone audits on ARR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