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008376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Diagnóstico Estratégico y 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Postura Ofensiva Validada: Margen (+18%) y Retención NRR (118%) Financian la Expansión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Diagnóstico DAFO normalizado, ventajas competitivas clave y foco prioritario de mitigación.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Confidencial Consejo de Administración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1 de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2563EB"/>
                </a:solidFill>
                <a:latin typeface="Segoe UI"/>
              </a:defRPr>
            </a:pPr>
            <a:r>
              <a:t>OFENSIVA (DOMINANTE)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+2.10, +1.85</a:t>
            </a:r>
          </a:p>
          <a:p>
            <a:pPr>
              <a:defRPr sz="850" b="1">
                <a:solidFill>
                  <a:srgbClr val="1D4ED8"/>
                </a:solidFill>
                <a:latin typeface="Segoe UI"/>
              </a:defRPr>
            </a:pPr>
            <a:r>
              <a:t>Vector ||V|| = 2.80 pts (Impulso Alto)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944368"/>
            <a:ext cx="2212848" cy="1097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Cuadrante I (Maxi-Maxi) dominante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Solidez interna supera cuellos de botella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Entorno macro con vientos de cola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POSTURA ACTIVA Q1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0D9488"/>
                </a:solidFill>
                <a:latin typeface="Segoe UI"/>
              </a:defRPr>
            </a:pPr>
            <a:r>
              <a:t>VENTAJA DEFENDIBLE (MOAT)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24.2% EBITDA</a:t>
            </a:r>
          </a:p>
          <a:p>
            <a:pPr>
              <a:defRPr sz="850" b="1">
                <a:solidFill>
                  <a:srgbClr val="0F766E"/>
                </a:solidFill>
                <a:latin typeface="Segoe UI"/>
              </a:defRPr>
            </a:pPr>
            <a:r>
              <a:t>Margen Bruto +18.4% vs Sector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4" y="2944368"/>
            <a:ext cx="2212848" cy="10972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3 patentes europeas registradas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Retención neta de ingresos (NRR) 118%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Financiación orgánica de I+D sin deuda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21024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FORTALEZA DE 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D97706"/>
                </a:solidFill>
                <a:latin typeface="Segoe UI"/>
              </a:defRPr>
            </a:pPr>
            <a:r>
              <a:t>PUNTO DE ESTRÉS CRÍTICO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42% TOP-2</a:t>
            </a:r>
          </a:p>
          <a:p>
            <a:pPr>
              <a:defRPr sz="850" b="1">
                <a:solidFill>
                  <a:srgbClr val="92400E"/>
                </a:solidFill>
                <a:latin typeface="Segoe UI"/>
              </a:defRPr>
            </a:pPr>
            <a:r>
              <a:t>Ciclo Enterprise: 8.5 Meses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944368"/>
            <a:ext cx="2212848" cy="1097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Alta concentración en 2 clientes clave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Presión de precios de competidores (-35%)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Exige diversificación comercial en LatAm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MITIGACIÓN INMEDIATA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ASIGNACIÓN DE CAPITAL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50" b="1">
                <a:solidFill>
                  <a:srgbClr val="0F172A"/>
                </a:solidFill>
                <a:latin typeface="Segoe UI"/>
              </a:defRPr>
            </a:pPr>
            <a:r>
              <a:t>245k € → +1.2M €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Payback: 11 Meses • VAN Positivo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0848" y="2944368"/>
            <a:ext cx="2212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Partida: 140k € CAPEX / 105k € OPEX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Captura de 1.2M € de subvenciones y ARR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Dilución de riesgo top-2 a &lt; 25% ARR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DECISIÓN REQUERIDA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728655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769864"/>
            <a:ext cx="1645920" cy="3017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69864"/>
            <a:ext cx="1645920" cy="3017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MANDATO DEL CONSEJO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5760720"/>
            <a:ext cx="86868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Autorizar 245.000 € para desplegar las 4 iniciativas CAME, capturando 1.2M € de ARR y blindando la concentración de clientes.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319272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Posicionamiento y Fuerzas Estratégicas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68% del Potencial en Sinergias Ofensivas y Blindaje Inmediato ante Concentración de Clientes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Espacio vectorial de cuadrantes y balance de fuerzas de cruce CAME.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Confidencial Consejo de Administración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2 de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36576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755648"/>
            <a:ext cx="4681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ESPACIO VECTORIAL CARTESIANO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2084832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194560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92400E"/>
                </a:solidFill>
                <a:latin typeface="Segoe UI"/>
              </a:defRPr>
            </a:pPr>
            <a:r>
              <a:t>REORIENTACIÓN (WO)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&lt; 0, Y ≥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Corregir debilidades internas para capturar oportunidades.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84832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194560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Segoe UI"/>
              </a:defRPr>
            </a:pPr>
            <a:r>
              <a:t>★ OFENSIVA (SO) • ACTIVO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X = +2.10, Y = +1.85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Máxima aceleración de capital sobre ventajas clave.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3657600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767328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9F1239"/>
                </a:solidFill>
                <a:latin typeface="Segoe UI"/>
              </a:defRPr>
            </a:pPr>
            <a:r>
              <a:t>SUPERVIVENCIA (WT)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&lt; 0, Y &lt;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Contención estricta y preservación de liquidez.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657600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3767328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0F766E"/>
                </a:solidFill>
                <a:latin typeface="Segoe UI"/>
              </a:defRPr>
            </a:pPr>
            <a:r>
              <a:t>DEFENSIVA (ST)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≥ 0, Y &lt;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Blindar margen y clientes con moats de patentes.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31535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5"/>
            <a:ext cx="5120640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VECTOR ESTRATÉGICO: (+2.10, +1.85) | IMPULSO ||V|| = 2.80 PTS | ORIENTACIÓN θ = 41.3º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2472" y="164592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71907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Segoe UI"/>
              </a:defRPr>
            </a:pPr>
            <a:r>
              <a:t>Sinergias Ofensivas (F-O / SO) • 38 pts   [68% POTENCIAL • FOCO 1]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Captura de subvenciones NextGen EU en 40 plantas industriales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Alianzas de co-selling con integradores Tier-1 (Accenture/Indra)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62472" y="27432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81635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Segoe UI"/>
              </a:defRPr>
            </a:pPr>
            <a:r>
              <a:t>Estrategias Defensivas (F-A / ST) • 26 pts   [BLINDAJE DE MOAT]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Blindaje de contratos plurianuales (3 años) con clientes clave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Adecuación anticipada a normativas de ciberseguridad NIS2/DORA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384048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91363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2400E"/>
                </a:solidFill>
                <a:latin typeface="Segoe UI"/>
              </a:defRPr>
            </a:pPr>
            <a:r>
              <a:t>Iniciativas Reorientación (D-O / WO) • 18 pts   [TURNAROUND OPERATIVO]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Despliegue de red de distribución comercial en México y Colombia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Refactorización del billing multi-divisa (lead time reducido a 5 meses)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2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501091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F1239"/>
                </a:solidFill>
                <a:latin typeface="Segoe UI"/>
              </a:defRPr>
            </a:pPr>
            <a:r>
              <a:t>Vulnerabilidades Supervivencia (D-A / WT) • 29 pts   [RIESGO CRÍTICO]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Riesgo de concentración de clientes (42%) frente a guerras de precios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Mandato de diversificación antes de concluir el ejercicio Q3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630168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Plan de Acción CAME y Decisión del Consejo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Despliegue CAME 2026: 245.000 € de Presupuesto para Capturar 1.2M € de Nuevo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Hoja de ruta trimestral, responsables C-Level y resoluciones vinculantes del Consejo.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Confidencial Consejo de Administración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3 de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Segoe UI"/>
              </a:defRPr>
            </a:pPr>
            <a:r>
              <a:t>Q1 • BLINDAJE &amp; NIS2</a:t>
            </a:r>
          </a:p>
          <a:p>
            <a:pPr>
              <a:spcBef>
                <a:spcPts val="200"/>
              </a:spcBef>
              <a:defRPr sz="800" b="1">
                <a:solidFill>
                  <a:srgbClr val="0F766E"/>
                </a:solidFill>
                <a:latin typeface="Segoe UI"/>
              </a:defRPr>
            </a:pPr>
            <a:r>
              <a:t>Pilar: DEFENSIVA (ST)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CAME-A01: Contratos enterprise [CEO]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CAME-A02: Auditoría NIS2 / DORA [CISO]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Partida: 45.000 €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Segoe UI"/>
              </a:defRPr>
            </a:pPr>
            <a:r>
              <a:t>Q2 • CANAL LATAM &amp; ALIANZAS</a:t>
            </a:r>
          </a:p>
          <a:p>
            <a:pPr>
              <a:spcBef>
                <a:spcPts val="200"/>
              </a:spcBef>
              <a:defRPr sz="800" b="1">
                <a:solidFill>
                  <a:srgbClr val="92400E"/>
                </a:solidFill>
                <a:latin typeface="Segoe UI"/>
              </a:defRPr>
            </a:pPr>
            <a:r>
              <a:t>Pilar: REORIENTACIÓN (WO)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CAME-C01: Red comercial LatAm [CCO]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CAME-C02: Acuerdo integradores [VP Sales]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2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Partida: 80.000 €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Q3 • ESCALA SAAS INDUSTRIAL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Segoe UI"/>
              </a:defRPr>
            </a:pPr>
            <a:r>
              <a:t>Pilar: OFENSIVA (SO)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CAME-E01: Módulo SaaS 40 factorías [COO]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CAME-C03: Refactorización billing [CTO]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Partida: 90.000 €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Q4 • RETENCIÓN I+D &amp; MOAT</a:t>
            </a:r>
          </a:p>
          <a:p>
            <a:pPr>
              <a:spcBef>
                <a:spcPts val="200"/>
              </a:spcBef>
              <a:defRPr sz="800" b="1">
                <a:solidFill>
                  <a:srgbClr val="1E293B"/>
                </a:solidFill>
                <a:latin typeface="Segoe UI"/>
              </a:defRPr>
            </a:pPr>
            <a:r>
              <a:t>Pilar: PRESERVACIÓN DE MOAT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CAME-M01: Ampliación patentes Asia [Legal]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CAME-M02: LTIP phantom shares IA [CPO]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Partida: 30.000 €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10728655" cy="233172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014216"/>
            <a:ext cx="1008857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Segoe UI"/>
              </a:defRPr>
            </a:pPr>
            <a:r>
              <a:t>DECISIÓN REQUERIDA DEL CONSEJO (BOARD GATEWAY)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Segoe UI"/>
              </a:defRPr>
            </a:pPr>
            <a:r>
              <a:t>Tres acuerdos vinculantes para la ejecución del plan estratégico y liberación de fondos: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1. APROBACIÓN DE CAPITAL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245.000 €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Autorizar 140k € CAPEX / 105k € OPEX con cargo al fondo de inversión estratégica.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2. SPONSORSHIP C-LEVEL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COO &amp; CCO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Ratificar al COO como Sponsor de CAME-E01 y al CCO para la Diversificación LatAm.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7848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Segoe UI"/>
              </a:defRPr>
            </a:pPr>
            <a:r>
              <a:t>3. GOBERNANZA &amp; REPORTING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Revisión Trimestral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Comité mensual de seguimiento y auditoría de KPIs de ARR en cada Consejo ordinario.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